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39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B7876-177B-4B42-BC19-EA5A468D5870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5A9E4-98F0-4BF7-A16C-7DCD43BB65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03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35040" y="-182880"/>
            <a:ext cx="3291840" cy="2834640"/>
          </a:xfrm>
          <a:prstGeom prst="rect">
            <a:avLst/>
          </a:prstGeom>
          <a:solidFill>
            <a:srgbClr val="00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49440" y="-182880"/>
            <a:ext cx="2377440" cy="1737360"/>
          </a:xfrm>
          <a:prstGeom prst="rect">
            <a:avLst/>
          </a:prstGeom>
          <a:solidFill>
            <a:srgbClr val="00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80960" y="-182880"/>
            <a:ext cx="1645920" cy="914400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822960"/>
            <a:ext cx="2843784" cy="219456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4" y="841248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3M  ·  INTERNSHIP PROJECT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15568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AI Yoga Posture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D4AA"/>
                </a:solidFill>
                <a:latin typeface="Calibri"/>
              </a:rPr>
              <a:t>Correction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852928"/>
            <a:ext cx="2011680" cy="36576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962656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7290A8"/>
                </a:solidFill>
                <a:latin typeface="Calibri"/>
              </a:rPr>
              <a:t>A live background coaching system that watches you do yoga,
compares your pose to the instructor, and tells you exactly what to fix.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6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4636008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7290A8"/>
                </a:solidFill>
                <a:latin typeface="Calibri"/>
              </a:rPr>
              <a:t>Progress Report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164592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Was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713232"/>
            <a:ext cx="8449056" cy="12801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768096"/>
            <a:ext cx="8449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7290A8"/>
                </a:solidFill>
                <a:latin typeface="Calibri"/>
              </a:rPr>
              <a:t>A fully modular, real-time pose correction pipeline — 19 Python files running live on Windows.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005840"/>
            <a:ext cx="1993392" cy="105156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005840"/>
            <a:ext cx="45720" cy="1051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097280"/>
            <a:ext cx="1810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AA"/>
                </a:solidFill>
                <a:latin typeface="Calibr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645920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90A8"/>
                </a:solidFill>
                <a:latin typeface="Calibri"/>
              </a:rPr>
              <a:t>Python modules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3744" y="1005840"/>
            <a:ext cx="1993392" cy="105156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23744" y="1005840"/>
            <a:ext cx="45720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60903" y="1097280"/>
            <a:ext cx="1810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7C3AED"/>
                </a:solidFill>
                <a:latin typeface="Calibri"/>
              </a:rPr>
              <a:t>3,500+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3" y="1645920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90A8"/>
                </a:solidFill>
                <a:latin typeface="Calibri"/>
              </a:rPr>
              <a:t>Lines of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0016" y="1005840"/>
            <a:ext cx="1993392" cy="105156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00016" y="1005840"/>
            <a:ext cx="45720" cy="105156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37176" y="1097280"/>
            <a:ext cx="1810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5C5C"/>
                </a:solidFill>
                <a:latin typeface="Calibri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1645920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90A8"/>
                </a:solidFill>
                <a:latin typeface="Calibri"/>
              </a:rPr>
              <a:t>Yoga pose classes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1005840"/>
            <a:ext cx="1993392" cy="105156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76288" y="1005840"/>
            <a:ext cx="45720" cy="105156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13448" y="1097280"/>
            <a:ext cx="18105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BF00"/>
                </a:solidFill>
                <a:latin typeface="Calibri"/>
              </a:rPr>
              <a:t>98.7%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8" y="1645920"/>
            <a:ext cx="18105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90A8"/>
                </a:solidFill>
                <a:latin typeface="Calibri"/>
              </a:rPr>
              <a:t>ML classifier acc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2331720"/>
            <a:ext cx="1664208" cy="87782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7472" y="2331720"/>
            <a:ext cx="36576" cy="87782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2386584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AA"/>
                </a:solidFill>
                <a:latin typeface="Calibri"/>
              </a:rPr>
              <a:t>webcam_capture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679191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E8F0"/>
                </a:solidFill>
                <a:latin typeface="Calibri"/>
              </a:rPr>
              <a:t>Webcam input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2331720"/>
            <a:ext cx="1664208" cy="87782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103120" y="2331720"/>
            <a:ext cx="36576" cy="87782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12848" y="2386584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AA"/>
                </a:solidFill>
                <a:latin typeface="Calibri"/>
              </a:rPr>
              <a:t>screen_capture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2679191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E8F0"/>
                </a:solidFill>
                <a:latin typeface="Calibri"/>
              </a:rPr>
              <a:t>Screen / video input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58768" y="2331720"/>
            <a:ext cx="1664208" cy="87782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58768" y="2331720"/>
            <a:ext cx="36576" cy="877824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68496" y="2386584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C75"/>
                </a:solidFill>
                <a:latin typeface="Calibri"/>
              </a:rPr>
              <a:t>pose_estimator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68496" y="2679191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E8F0"/>
                </a:solidFill>
                <a:latin typeface="Calibri"/>
              </a:rPr>
              <a:t>MediaPipe landmarks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14416" y="2331720"/>
            <a:ext cx="1664208" cy="87782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614416" y="2331720"/>
            <a:ext cx="36576" cy="877824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24144" y="2386584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C75"/>
                </a:solidFill>
                <a:latin typeface="Calibri"/>
              </a:rPr>
              <a:t>angle_calculator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24144" y="2679191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E8F0"/>
                </a:solidFill>
                <a:latin typeface="Calibri"/>
              </a:rPr>
              <a:t>Joint angle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70064" y="2331720"/>
            <a:ext cx="1664208" cy="87782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370064" y="2331720"/>
            <a:ext cx="36576" cy="8778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79792" y="2386584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  <a:latin typeface="Calibri"/>
              </a:rPr>
              <a:t>pose_classifier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9792" y="2679191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E8F0"/>
                </a:solidFill>
                <a:latin typeface="Calibri"/>
              </a:rPr>
              <a:t>ML + rule-based classify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" y="3355848"/>
            <a:ext cx="1664208" cy="87782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47472" y="3355848"/>
            <a:ext cx="36576" cy="8778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341071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  <a:latin typeface="Calibri"/>
              </a:rPr>
              <a:t>similarity_scorer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370332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E8F0"/>
                </a:solidFill>
                <a:latin typeface="Calibri"/>
              </a:rPr>
              <a:t>Weighted pose scoring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03120" y="3355848"/>
            <a:ext cx="1664208" cy="87782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03120" y="3355848"/>
            <a:ext cx="36576" cy="877824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12848" y="341071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5C5C"/>
                </a:solidFill>
                <a:latin typeface="Calibri"/>
              </a:rPr>
              <a:t>ghost_skeleton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12848" y="370332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E8F0"/>
                </a:solidFill>
                <a:latin typeface="Calibri"/>
              </a:rPr>
              <a:t>Body stencil overlay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58768" y="3355848"/>
            <a:ext cx="1664208" cy="87782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858768" y="3355848"/>
            <a:ext cx="36576" cy="877824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968496" y="341071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5C5C"/>
                </a:solidFill>
                <a:latin typeface="Calibri"/>
              </a:rPr>
              <a:t>feedback_builder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68496" y="370332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E8F0"/>
                </a:solidFill>
                <a:latin typeface="Calibri"/>
              </a:rPr>
              <a:t>Natural voice cues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14416" y="3355848"/>
            <a:ext cx="1664208" cy="87782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614416" y="3355848"/>
            <a:ext cx="36576" cy="87782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724144" y="341071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BF00"/>
                </a:solidFill>
                <a:latin typeface="Calibri"/>
              </a:rPr>
              <a:t>pose_state_machine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24144" y="370332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E8F0"/>
                </a:solidFill>
                <a:latin typeface="Calibri"/>
              </a:rPr>
              <a:t>Hold / freeze logic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70064" y="3355848"/>
            <a:ext cx="1664208" cy="87782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370064" y="3355848"/>
            <a:ext cx="36576" cy="87782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79792" y="341071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BF00"/>
                </a:solidFill>
                <a:latin typeface="Calibri"/>
              </a:rPr>
              <a:t>session_tracker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79792" y="370332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E8F0"/>
                </a:solidFill>
                <a:latin typeface="Calibri"/>
              </a:rPr>
              <a:t>Session summary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6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47472" y="4846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90A8"/>
                </a:solidFill>
                <a:latin typeface="Calibri"/>
              </a:rPr>
              <a:t>Project Overview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0" y="4846320"/>
            <a:ext cx="3767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0D4AA"/>
                </a:solidFill>
                <a:latin typeface="Calibri"/>
              </a:rPr>
              <a:t>All modules fully integrated + running 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164592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Dual Capture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713232"/>
            <a:ext cx="8449056" cy="12801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768096"/>
            <a:ext cx="8449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7290A8"/>
                </a:solidFill>
                <a:latin typeface="Calibri"/>
              </a:rPr>
              <a:t>Captures the user via webcam AND the instructor from any on-screen video — simultaneously.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005840"/>
            <a:ext cx="4133087" cy="356616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005840"/>
            <a:ext cx="4133087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0607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📷  Webcam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499616"/>
            <a:ext cx="3886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OpenCV VideoCapture — auto-selects device index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640×480 @ 30 fps, index configurable via --webcam flag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Auto-reconnect loop on dropped frames (3 s retry)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Camera checker: warns if body cut off, sideways, too small, or too close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Sideways detection: X-separation &lt; 0.06 AND Y-diff &gt; 0.12 (dual condition)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005840"/>
            <a:ext cx="4133087" cy="356616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0" y="1005840"/>
            <a:ext cx="4133087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18888" y="10607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🖥️  Screen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1499616"/>
            <a:ext cx="3886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7C3AED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mss library captures full monitor at 5 FPS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7C3AED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Auto-detects black frames caused by GPU-accelerated video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7C3AED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Fallback: Win32 BitBlt via pywin32 for DRM/GPU content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7C3AED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DPI awareness registered before any Win32 API calls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7C3AED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Supports 2560×1600 high-DPI displays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7C3AED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Monitor index configurable via --monitor flag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68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  <a:latin typeface="Calibri"/>
              </a:rPr>
              <a:t>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2999232"/>
            <a:ext cx="512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290A8"/>
                </a:solidFill>
                <a:latin typeface="Calibri"/>
              </a:rPr>
              <a:t>live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6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4846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90A8"/>
                </a:solidFill>
                <a:latin typeface="Calibri"/>
              </a:rPr>
              <a:t>Dual Capture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46320"/>
            <a:ext cx="3767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0D4AA"/>
                </a:solidFill>
                <a:latin typeface="Calibri"/>
              </a:rPr>
              <a:t>GPU video fallback fully working on Windows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164592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Pose Estimation  —  MediaPipe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713232"/>
            <a:ext cx="8449056" cy="12801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768096"/>
            <a:ext cx="8449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7290A8"/>
                </a:solidFill>
                <a:latin typeface="Calibri"/>
              </a:rPr>
              <a:t>33 3D landmarks extracted per frame, filtered by visibility, converted to joint angles.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8755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Calibr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371600"/>
            <a:ext cx="4160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MediaPipe Pose processes each frame at 5 FPS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Returns 33 landmarks: (x, y, z, visibility) per point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Visibility threshold 0.55 — unreliable points ignored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Coordinates normalised 0.0 → 1.0 (frame-relative)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Runs independently on both webcam and instructor stream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Dataclasses: PoseResult → dict[name, Landmark]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987552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Calibri"/>
              </a:rPr>
              <a:t>10 Joint Angles Computed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5152" y="1389888"/>
            <a:ext cx="1965960" cy="54864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45152" y="1389888"/>
            <a:ext cx="36576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426464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Left Knee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682496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90A8"/>
                </a:solidFill>
                <a:latin typeface="Calibri"/>
              </a:rPr>
              <a:t>Hip → Knee → Ankle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45152" y="2011680"/>
            <a:ext cx="1965960" cy="54864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45152" y="2011680"/>
            <a:ext cx="36576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204825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Right Knee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04288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90A8"/>
                </a:solidFill>
                <a:latin typeface="Calibri"/>
              </a:rPr>
              <a:t>Hip → Knee → Ankle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45152" y="2633472"/>
            <a:ext cx="1965960" cy="54864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45152" y="2633472"/>
            <a:ext cx="36576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267004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Left 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926079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90A8"/>
                </a:solidFill>
                <a:latin typeface="Calibri"/>
              </a:rPr>
              <a:t>Shoulder → Hip → Knee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3255264"/>
            <a:ext cx="1965960" cy="54864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45152" y="3255264"/>
            <a:ext cx="36576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32918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Right 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547872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90A8"/>
                </a:solidFill>
                <a:latin typeface="Calibri"/>
              </a:rPr>
              <a:t>Shoulder → Hip → Knee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3877056"/>
            <a:ext cx="1965960" cy="54864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45152" y="3877056"/>
            <a:ext cx="36576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0" y="391363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Left Shoulder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169664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90A8"/>
                </a:solidFill>
                <a:latin typeface="Calibri"/>
              </a:rPr>
              <a:t>Elbow → Shoulder → Hip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1389888"/>
            <a:ext cx="1965960" cy="54864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766560" y="1389888"/>
            <a:ext cx="36576" cy="548640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76288" y="1426464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Right Shoulder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1682496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90A8"/>
                </a:solidFill>
                <a:latin typeface="Calibri"/>
              </a:rPr>
              <a:t>Elbow → Shoulder → Hip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011680"/>
            <a:ext cx="1965960" cy="54864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766560" y="2011680"/>
            <a:ext cx="36576" cy="548640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76288" y="204825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Left Elbow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288" y="2304288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90A8"/>
                </a:solidFill>
                <a:latin typeface="Calibri"/>
              </a:rPr>
              <a:t>Shoulder → Elbow → Wrist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2633472"/>
            <a:ext cx="1965960" cy="54864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766560" y="2633472"/>
            <a:ext cx="36576" cy="548640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76288" y="267004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Right Elbow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2926079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90A8"/>
                </a:solidFill>
                <a:latin typeface="Calibri"/>
              </a:rPr>
              <a:t>Shoulder → Elbow → Wrist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3255264"/>
            <a:ext cx="1965960" cy="54864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766560" y="3255264"/>
            <a:ext cx="36576" cy="548640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76288" y="32918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Left Ankle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76288" y="3547872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90A8"/>
                </a:solidFill>
                <a:latin typeface="Calibri"/>
              </a:rPr>
              <a:t>Knee → Ankle → Foot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66560" y="3877056"/>
            <a:ext cx="1965960" cy="54864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766560" y="3877056"/>
            <a:ext cx="36576" cy="548640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76288" y="391363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Right Ankle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76288" y="4169664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90A8"/>
                </a:solidFill>
                <a:latin typeface="Calibri"/>
              </a:rPr>
              <a:t>Knee → Ankle → Foot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6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47472" y="4846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90A8"/>
                </a:solidFill>
                <a:latin typeface="Calibri"/>
              </a:rPr>
              <a:t>Pose Estimation — MediaPipe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4846320"/>
            <a:ext cx="3767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0D4AA"/>
                </a:solidFill>
                <a:latin typeface="Calibri"/>
              </a:rPr>
              <a:t>Both streams processed every 0.2 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164592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Pose Similarity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713232"/>
            <a:ext cx="8449056" cy="12801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768096"/>
            <a:ext cx="8449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7290A8"/>
                </a:solidFill>
                <a:latin typeface="Calibri"/>
              </a:rPr>
              <a:t>Every frame produces a 0–100% match score comparing user angles to instructor angles.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005840"/>
            <a:ext cx="8449056" cy="804672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005840"/>
            <a:ext cx="45720" cy="804672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04241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F00"/>
                </a:solidFill>
                <a:latin typeface="Calibri"/>
              </a:rPr>
              <a:t>Score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8E8F0"/>
                </a:solidFill>
                <a:latin typeface="Consolas"/>
              </a:rPr>
              <a:t>score = Σ weight_j × max(0,  1 − |user_angle_j − ref_angle_j| / 180)  × 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1965960"/>
            <a:ext cx="2011680" cy="6858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002536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B141E"/>
                </a:solidFill>
                <a:latin typeface="Calibri"/>
              </a:rPr>
              <a:t>&lt;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B141E"/>
                </a:solidFill>
                <a:latin typeface="Calibri"/>
              </a:rPr>
              <a:t>Needs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05456" y="1965960"/>
            <a:ext cx="2011680" cy="68580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15184" y="2002536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B141E"/>
                </a:solidFill>
                <a:latin typeface="Calibri"/>
              </a:rPr>
              <a:t>60–75%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5184" y="228600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B141E"/>
                </a:solidFill>
                <a:latin typeface="Calibri"/>
              </a:rPr>
              <a:t>Fair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965960"/>
            <a:ext cx="2011680" cy="685800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002536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B141E"/>
                </a:solidFill>
                <a:latin typeface="Calibri"/>
              </a:rPr>
              <a:t>75–85%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228600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B141E"/>
                </a:solidFill>
                <a:latin typeface="Calibri"/>
              </a:rPr>
              <a:t>Good  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21424" y="1965960"/>
            <a:ext cx="2011680" cy="685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31152" y="2002536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B141E"/>
                </a:solidFill>
                <a:latin typeface="Calibri"/>
              </a:rPr>
              <a:t>85–100%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28600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B141E"/>
                </a:solidFill>
                <a:latin typeface="Calibri"/>
              </a:rPr>
              <a:t>Excellent ✓✓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2834640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Calibri"/>
              </a:rPr>
              <a:t>Hold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3200400"/>
            <a:ext cx="4160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User must sustain ≥ 75% score for 8 continuous seconds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Progress arc drawn in debug window (fills as timer runs)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Score drops below threshold → timer resets to zero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On success: 'Well done!' spoken + session records the 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834640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Calibri"/>
              </a:rPr>
              <a:t>Joint Weights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218688"/>
            <a:ext cx="4160520" cy="32004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63440" y="3218688"/>
            <a:ext cx="36576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73168" y="32552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Hips  /  Knees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55264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290A8"/>
                </a:solidFill>
                <a:latin typeface="Calibri"/>
              </a:rPr>
              <a:t>Weight  ×1.5   (load-bearing joints)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3593592"/>
            <a:ext cx="4160520" cy="32004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63440" y="3593592"/>
            <a:ext cx="36576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73168" y="36301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Shoulders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63016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290A8"/>
                </a:solidFill>
                <a:latin typeface="Calibri"/>
              </a:rPr>
              <a:t>Weight  ×1.2   (arm position)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968496"/>
            <a:ext cx="4160520" cy="32004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63440" y="3968496"/>
            <a:ext cx="36576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73168" y="40050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Elbows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005072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290A8"/>
                </a:solidFill>
                <a:latin typeface="Calibri"/>
              </a:rPr>
              <a:t>Weight  ×0.9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4343400"/>
            <a:ext cx="4160520" cy="320040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663440" y="4343400"/>
            <a:ext cx="36576" cy="32004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73168" y="43799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Ankles  /  Wrists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37997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290A8"/>
                </a:solidFill>
                <a:latin typeface="Calibri"/>
              </a:rPr>
              <a:t>Weight  ×0.7   (extremities)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6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7472" y="4846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90A8"/>
                </a:solidFill>
                <a:latin typeface="Calibri"/>
              </a:rPr>
              <a:t>Pose Similarity Scoring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4846320"/>
            <a:ext cx="3767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0D4AA"/>
                </a:solidFill>
                <a:latin typeface="Calibri"/>
              </a:rPr>
              <a:t>Hold threshold: 75%  ·  Hold duration: 8 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164592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ML Pose Classifier  —  98.7%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713232"/>
            <a:ext cx="8449056" cy="12801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768096"/>
            <a:ext cx="8449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7290A8"/>
                </a:solidFill>
                <a:latin typeface="Calibri"/>
              </a:rPr>
              <a:t>Custom-trained Random Forest on 7,200 synthetic samples — auto-loads at startup.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8755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Calibri"/>
              </a:rPr>
              <a:t>Trained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371600"/>
            <a:ext cx="4160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Random Forest  —  200 estimators, sklearn Pipeline + StandardScaler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7,200 synthetic samples  (400 per pose × 18 classes)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24 input features: 12 joint angles + 12 derived features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Derived: bilateral symmetry diffs, knee/hip ratios, bilateral means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Confidence gate: rejects predictions below 45% probability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Fallback to rule-based constraint scorer if model absent / uncertain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Auto-loaded from  model/pose_classifier.pkl  at startup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987552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Calibri"/>
              </a:rPr>
              <a:t>18 Pose Classes Recognised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371600"/>
            <a:ext cx="1389888" cy="40233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371600"/>
            <a:ext cx="36576" cy="40233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73168" y="1435608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8E8F0"/>
                </a:solidFill>
                <a:latin typeface="Calibri"/>
              </a:rPr>
              <a:t>Mountain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79" y="1371600"/>
            <a:ext cx="1389888" cy="40233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79" y="1371600"/>
            <a:ext cx="36576" cy="40233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6207" y="1435608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8E8F0"/>
                </a:solidFill>
                <a:latin typeface="Calibri"/>
              </a:rPr>
              <a:t>Forward Fold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371600"/>
            <a:ext cx="1389888" cy="40233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1371600"/>
            <a:ext cx="36576" cy="40233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99248" y="1435608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8E8F0"/>
                </a:solidFill>
                <a:latin typeface="Calibri"/>
              </a:rPr>
              <a:t>Halfway Lift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856232"/>
            <a:ext cx="1389888" cy="40233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63440" y="1856232"/>
            <a:ext cx="36576" cy="402336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1920240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8E8F0"/>
                </a:solidFill>
                <a:latin typeface="Calibri"/>
              </a:rPr>
              <a:t>Warrior 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79" y="1856232"/>
            <a:ext cx="1389888" cy="40233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79" y="1856232"/>
            <a:ext cx="36576" cy="402336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7" y="1920240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8E8F0"/>
                </a:solidFill>
                <a:latin typeface="Calibri"/>
              </a:rPr>
              <a:t>Warrior 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1856232"/>
            <a:ext cx="1389888" cy="40233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589520" y="1856232"/>
            <a:ext cx="36576" cy="402336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99248" y="1920240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8E8F0"/>
                </a:solidFill>
                <a:latin typeface="Calibri"/>
              </a:rPr>
              <a:t>Warrior III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340864"/>
            <a:ext cx="1389888" cy="40233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63440" y="2340864"/>
            <a:ext cx="36576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73168" y="2404872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8E8F0"/>
                </a:solidFill>
                <a:latin typeface="Calibri"/>
              </a:rPr>
              <a:t>Chair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79" y="2340864"/>
            <a:ext cx="1389888" cy="40233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26479" y="2340864"/>
            <a:ext cx="36576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36207" y="2404872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8E8F0"/>
                </a:solidFill>
                <a:latin typeface="Calibri"/>
              </a:rPr>
              <a:t>Tree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340864"/>
            <a:ext cx="1389888" cy="40233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589520" y="2340864"/>
            <a:ext cx="36576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99248" y="2404872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8E8F0"/>
                </a:solidFill>
                <a:latin typeface="Calibri"/>
              </a:rPr>
              <a:t>Triangle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2825496"/>
            <a:ext cx="1389888" cy="40233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63440" y="2825496"/>
            <a:ext cx="36576" cy="402336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73168" y="2889503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8E8F0"/>
                </a:solidFill>
                <a:latin typeface="Calibri"/>
              </a:rPr>
              <a:t>Downward Dog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79" y="2825496"/>
            <a:ext cx="1389888" cy="40233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26479" y="2825496"/>
            <a:ext cx="36576" cy="402336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6207" y="2889503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8E8F0"/>
                </a:solidFill>
                <a:latin typeface="Calibri"/>
              </a:rPr>
              <a:t>Plank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2825496"/>
            <a:ext cx="1389888" cy="40233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589520" y="2825496"/>
            <a:ext cx="36576" cy="402336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99248" y="2889503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8E8F0"/>
                </a:solidFill>
                <a:latin typeface="Calibri"/>
              </a:rPr>
              <a:t>Low Lunge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3310128"/>
            <a:ext cx="1389888" cy="40233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663440" y="3310128"/>
            <a:ext cx="36576" cy="402336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73168" y="3374136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8E8F0"/>
                </a:solidFill>
                <a:latin typeface="Calibri"/>
              </a:rPr>
              <a:t>High Lunge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79" y="3310128"/>
            <a:ext cx="1389888" cy="40233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26479" y="3310128"/>
            <a:ext cx="36576" cy="402336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36207" y="3374136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8E8F0"/>
                </a:solidFill>
                <a:latin typeface="Calibri"/>
              </a:rPr>
              <a:t>Cobra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3310128"/>
            <a:ext cx="1389888" cy="40233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589520" y="3310128"/>
            <a:ext cx="36576" cy="402336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699248" y="3374136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8E8F0"/>
                </a:solidFill>
                <a:latin typeface="Calibri"/>
              </a:rPr>
              <a:t>Upward Dog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63440" y="3794760"/>
            <a:ext cx="1389888" cy="40233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663440" y="3794760"/>
            <a:ext cx="36576" cy="402336"/>
          </a:xfrm>
          <a:prstGeom prst="rect">
            <a:avLst/>
          </a:prstGeom>
          <a:solidFill>
            <a:srgbClr val="72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773168" y="3858768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8E8F0"/>
                </a:solidFill>
                <a:latin typeface="Calibri"/>
              </a:rPr>
              <a:t>Child's Pose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79" y="3794760"/>
            <a:ext cx="1389888" cy="40233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26479" y="3794760"/>
            <a:ext cx="36576" cy="402336"/>
          </a:xfrm>
          <a:prstGeom prst="rect">
            <a:avLst/>
          </a:prstGeom>
          <a:solidFill>
            <a:srgbClr val="72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36207" y="3858768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8E8F0"/>
                </a:solidFill>
                <a:latin typeface="Calibri"/>
              </a:rPr>
              <a:t>Seated Forward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89520" y="3794760"/>
            <a:ext cx="1389888" cy="40233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589520" y="3794760"/>
            <a:ext cx="36576" cy="402336"/>
          </a:xfrm>
          <a:prstGeom prst="rect">
            <a:avLst/>
          </a:prstGeom>
          <a:solidFill>
            <a:srgbClr val="72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699248" y="3858768"/>
            <a:ext cx="12252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8E8F0"/>
                </a:solidFill>
                <a:latin typeface="Calibri"/>
              </a:rPr>
              <a:t>Cat-Cow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6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47472" y="4846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90A8"/>
                </a:solidFill>
                <a:latin typeface="Calibri"/>
              </a:rPr>
              <a:t>ML Pose Classifier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0" y="4846320"/>
            <a:ext cx="3767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0D4AA"/>
                </a:solidFill>
                <a:latin typeface="Calibri"/>
              </a:rPr>
              <a:t>13/13 manual test cases passing  ·  98.7% test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164592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Body Stencil Overlay  (ghost_skeleton.py)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713232"/>
            <a:ext cx="8449056" cy="12801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768096"/>
            <a:ext cx="8449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7290A8"/>
                </a:solidFill>
                <a:latin typeface="Calibri"/>
              </a:rPr>
              <a:t>The instructor's silhouette is drawn colour-coded directly over the user's webcam feed.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87552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Calibri"/>
              </a:rPr>
              <a:t>How It's Rendered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371600"/>
            <a:ext cx="41605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Each limb segment rendered as a filled capsule (thick rounded shape)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White glow outline drawn first for visibility on any background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Body-aligned: scaled to user's torso height, anchored to user's hips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Stencil drawn at 42% opacity — webcam remains visible underneath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User's own skeleton drawn in white on top of the stencil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Joint dots with colour ring drawn over every landmark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Segments: upper arm, forearm, thigh, shin, torso (both sides)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987552"/>
            <a:ext cx="4160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Calibri"/>
              </a:rPr>
              <a:t>Live Colour Coding (per joint + segment)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371600"/>
            <a:ext cx="4160520" cy="566928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371600"/>
            <a:ext cx="54864" cy="5669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91456" y="1481328"/>
            <a:ext cx="347472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30368" y="14264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C55E"/>
                </a:solidFill>
                <a:latin typeface="Calibri"/>
              </a:rPr>
              <a:t>Matched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68249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90A8"/>
                </a:solidFill>
                <a:latin typeface="Calibri"/>
              </a:rPr>
              <a:t>Angle within ±20° tolerance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039112"/>
            <a:ext cx="4160520" cy="566928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3440" y="2039112"/>
            <a:ext cx="54864" cy="566928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91456" y="2148840"/>
            <a:ext cx="347472" cy="347472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30368" y="20939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BF00"/>
                </a:solidFill>
                <a:latin typeface="Calibri"/>
              </a:rPr>
              <a:t>Close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35000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90A8"/>
                </a:solidFill>
                <a:latin typeface="Calibri"/>
              </a:rPr>
              <a:t>Within ±40° (2× tolerance)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706624"/>
            <a:ext cx="4160520" cy="566928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63440" y="2706624"/>
            <a:ext cx="54864" cy="56692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91456" y="2816352"/>
            <a:ext cx="347472" cy="34747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30368" y="27614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5C5C"/>
                </a:solidFill>
                <a:latin typeface="Calibri"/>
              </a:rPr>
              <a:t>Adjust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301752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90A8"/>
                </a:solidFill>
                <a:latin typeface="Calibri"/>
              </a:rPr>
              <a:t>Within ±60° (3× tolerance)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3374136"/>
            <a:ext cx="4160520" cy="566928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63440" y="3374136"/>
            <a:ext cx="54864" cy="566928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91456" y="3483864"/>
            <a:ext cx="347472" cy="34747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30368" y="3429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C3333"/>
                </a:solidFill>
                <a:latin typeface="Calibri"/>
              </a:rPr>
              <a:t>Fix This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368503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90A8"/>
                </a:solidFill>
                <a:latin typeface="Calibri"/>
              </a:rPr>
              <a:t>Beyond ±60° — clear misalignment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4041648"/>
            <a:ext cx="4160520" cy="566928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63440" y="4041648"/>
            <a:ext cx="54864" cy="566928"/>
          </a:xfrm>
          <a:prstGeom prst="rect">
            <a:avLst/>
          </a:prstGeom>
          <a:solidFill>
            <a:srgbClr val="72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791456" y="4151376"/>
            <a:ext cx="347472" cy="347472"/>
          </a:xfrm>
          <a:prstGeom prst="rect">
            <a:avLst/>
          </a:prstGeom>
          <a:solidFill>
            <a:srgbClr val="72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30368" y="409651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7290A8"/>
                </a:solidFill>
                <a:latin typeface="Calibri"/>
              </a:rPr>
              <a:t>No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0368" y="435254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290A8"/>
                </a:solidFill>
                <a:latin typeface="Calibri"/>
              </a:rPr>
              <a:t>Instructor joint not visible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6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" y="4846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90A8"/>
                </a:solidFill>
                <a:latin typeface="Calibri"/>
              </a:rPr>
              <a:t>Body Stencil Overlay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846320"/>
            <a:ext cx="3767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0D4AA"/>
                </a:solidFill>
                <a:latin typeface="Calibri"/>
              </a:rPr>
              <a:t>Scales + translates to match user's body size in real-time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164592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Natural Voice Coaching  (feedback_builder.py)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713232"/>
            <a:ext cx="8449056" cy="12801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768096"/>
            <a:ext cx="8449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7290A8"/>
                </a:solidFill>
                <a:latin typeface="Calibri"/>
              </a:rPr>
              <a:t>Pose-specific, severity-scaled corrections spoken aloud in real time — not robotic commands.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987552"/>
            <a:ext cx="8449056" cy="658368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987552"/>
            <a:ext cx="45720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042415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TTS Engine: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042415"/>
            <a:ext cx="7040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8E8F0"/>
                </a:solidFill>
                <a:latin typeface="Calibri"/>
              </a:rPr>
              <a:t>Primary: edge-tts  (en-US-JennyNeural)   →   Fallback: pyttsx3  →  OS subprocess  →  console 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325880"/>
            <a:ext cx="8275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7290A8"/>
                </a:solidFill>
                <a:latin typeface="Calibri"/>
              </a:rPr>
              <a:t>Non-blocking audio queue — never stalls the pose loop.  pyttsx3 init in worker thread (fixes Windows COM hang).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78308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Calibri"/>
              </a:rPr>
              <a:t>Feedback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139696"/>
            <a:ext cx="4160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Pose-specific language: Warrior II cues ≠ Chair Pose cues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Severity-scaled: diff &gt;35° → direct; diff &lt;15° → soft suggestion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Combined sentences when 2 joints mismatch simultaneously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Encouragement probability scales with closeness to target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6-second cooldown between corrections (never overwhelming)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0D4AA"/>
                </a:solidFill>
                <a:latin typeface="Calibri"/>
              </a:rPr>
              <a:t>▸  </a:t>
            </a:r>
            <a:r>
              <a:rPr sz="1150">
                <a:solidFill>
                  <a:srgbClr val="D8E8F0"/>
                </a:solidFill>
                <a:latin typeface="Calibri"/>
              </a:rPr>
              <a:t>8+ phrase variants per joint/direction to avoid repetition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783080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Calibri"/>
              </a:rPr>
              <a:t>Example Voice 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139696"/>
            <a:ext cx="4160520" cy="44805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3440" y="2139696"/>
            <a:ext cx="36576" cy="448056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73168" y="2167127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AA"/>
                </a:solidFill>
                <a:latin typeface="Calibri"/>
              </a:rPr>
              <a:t>Warrior II knee: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35915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8E8F0"/>
                </a:solidFill>
                <a:latin typeface="Calibri"/>
              </a:rPr>
              <a:t>"Warrior Two lives in the legs — sink deeper into that left knee, directly over your ankle."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660903"/>
            <a:ext cx="4160520" cy="44805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63440" y="2660903"/>
            <a:ext cx="36576" cy="448056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2688335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AA"/>
                </a:solidFill>
                <a:latin typeface="Calibri"/>
              </a:rPr>
              <a:t>Both arms: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2880359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8E8F0"/>
                </a:solidFill>
                <a:latin typeface="Calibri"/>
              </a:rPr>
              <a:t>"Sweep both arms up — reach them overhead."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182111"/>
            <a:ext cx="4160520" cy="44805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63440" y="3182111"/>
            <a:ext cx="36576" cy="448056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73168" y="3209543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AA"/>
                </a:solidFill>
                <a:latin typeface="Calibri"/>
              </a:rPr>
              <a:t>Close correction: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340156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8E8F0"/>
                </a:solidFill>
                <a:latin typeface="Calibri"/>
              </a:rPr>
              <a:t>"Straighten your right leg — press the heel down.  Almost there."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3703320"/>
            <a:ext cx="4160520" cy="44805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663440" y="3703320"/>
            <a:ext cx="36576" cy="448056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73168" y="373075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AA"/>
                </a:solidFill>
                <a:latin typeface="Calibri"/>
              </a:rPr>
              <a:t>Pose intro: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392277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8E8F0"/>
                </a:solidFill>
                <a:latin typeface="Calibri"/>
              </a:rPr>
              <a:t>"We're going into Downward Dog now, Adho Mukha Svanasana."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4224527"/>
            <a:ext cx="4160520" cy="448056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663440" y="4224527"/>
            <a:ext cx="36576" cy="448056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73168" y="4251959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AA"/>
                </a:solidFill>
                <a:latin typeface="Calibri"/>
              </a:rPr>
              <a:t>Well done: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4443983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8E8F0"/>
                </a:solidFill>
                <a:latin typeface="Calibri"/>
              </a:rPr>
              <a:t>"That's it — hold that and breathe."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6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" y="4846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90A8"/>
                </a:solidFill>
                <a:latin typeface="Calibri"/>
              </a:rPr>
              <a:t>Natural Voice Coaching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846320"/>
            <a:ext cx="3767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0D4AA"/>
                </a:solidFill>
                <a:latin typeface="Calibri"/>
              </a:rPr>
              <a:t>Pose-aware  ·  Severity-scaled  ·  Cooldown-gated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472" y="164592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State Machine  &amp;  Session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713232"/>
            <a:ext cx="8449056" cy="12801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768096"/>
            <a:ext cx="8449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7290A8"/>
                </a:solidFill>
                <a:latin typeface="Calibri"/>
              </a:rPr>
              <a:t>Finite state machine governs pose transitions. Every session ends with a spoken summary report.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024128"/>
            <a:ext cx="2578608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2359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41E"/>
                </a:solidFill>
                <a:latin typeface="Calibri"/>
              </a:rPr>
              <a:t>TRACKING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024128"/>
            <a:ext cx="2578608" cy="82296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1170432"/>
            <a:ext cx="2359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41E"/>
                </a:solidFill>
                <a:latin typeface="Calibri"/>
              </a:rPr>
              <a:t>FROZEN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024128"/>
            <a:ext cx="2578608" cy="82296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170432"/>
            <a:ext cx="2359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141E"/>
                </a:solidFill>
                <a:latin typeface="Calibri"/>
              </a:rPr>
              <a:t>CATCHING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1060704"/>
            <a:ext cx="8595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290A8"/>
                </a:solidFill>
                <a:latin typeface="Calibri"/>
              </a:rPr>
              <a:t>Instructor
moves on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31673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5C5C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1060704"/>
            <a:ext cx="8595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290A8"/>
                </a:solidFill>
                <a:latin typeface="Calibri"/>
              </a:rPr>
              <a:t>User holds
8 s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31673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BF00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2048256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Calibri"/>
              </a:rPr>
              <a:t>Transition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2395728"/>
            <a:ext cx="41605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Hold = score ≥ 75% continuously for 8 seconds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Instructor pose confirmed after 4 consecutive frames (~0.8 s)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Unknown / 'Yoga Pose' frames never trigger transitions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FROZEN: orange banner shown, step-by-step cues continue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D4AA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Score bands: Excellent 85% / Good 75% / Fair 60% / Work &lt;60%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048256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Calibri"/>
              </a:rPr>
              <a:t>Session Summary  (session_tracker.py)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395728"/>
            <a:ext cx="41605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FBF00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Records: held / missed per pose, best score, time spent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BF00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End-of-session summary spoken aloud automatically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BF00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Terminal table printed with per-pose breakdown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BF00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Voice commands: score · what pose · next step · pause · resume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BF00"/>
                </a:solidFill>
                <a:latin typeface="Calibri"/>
              </a:rPr>
              <a:t>▸  </a:t>
            </a:r>
            <a:r>
              <a:rPr sz="1200">
                <a:solidFill>
                  <a:srgbClr val="D8E8F0"/>
                </a:solidFill>
                <a:latin typeface="Calibri"/>
              </a:rPr>
              <a:t>Keyboard: Q quit · S score · N next step · P pause · R repeat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6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4846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290A8"/>
                </a:solidFill>
                <a:latin typeface="Calibri"/>
              </a:rPr>
              <a:t>State Machine  &amp;  Session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846320"/>
            <a:ext cx="3767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0D4AA"/>
                </a:solidFill>
                <a:latin typeface="Calibri"/>
              </a:rPr>
              <a:t>States: TRACKING → FROZEN → CATCHING 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8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Progress Summary  —  What's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097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B141E"/>
                </a:solidFill>
                <a:latin typeface="Calibri"/>
              </a:rPr>
              <a:t>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804672"/>
            <a:ext cx="4160520" cy="51206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804672"/>
            <a:ext cx="45720" cy="5120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886968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89611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8E8F0"/>
                </a:solidFill>
                <a:latin typeface="Calibri"/>
              </a:rPr>
              <a:t>Webcam capture + camera alignment checker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417320"/>
            <a:ext cx="4160520" cy="51206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" y="1417320"/>
            <a:ext cx="45720" cy="5120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49961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150876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8E8F0"/>
                </a:solidFill>
                <a:latin typeface="Calibri"/>
              </a:rPr>
              <a:t>Screen capture with GPU/BitBlt fallback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2029968"/>
            <a:ext cx="4160520" cy="51206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" y="2029968"/>
            <a:ext cx="45720" cy="5120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2112264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12140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8E8F0"/>
                </a:solidFill>
                <a:latin typeface="Calibri"/>
              </a:rPr>
              <a:t>MediaPipe pose estimation (both streams)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2642616"/>
            <a:ext cx="4160520" cy="51206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7472" y="2642616"/>
            <a:ext cx="45720" cy="5120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2724912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273405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8E8F0"/>
                </a:solidFill>
                <a:latin typeface="Calibri"/>
              </a:rPr>
              <a:t>10 joint angles computed per frame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3255264"/>
            <a:ext cx="4160520" cy="51206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" y="3255264"/>
            <a:ext cx="45720" cy="5120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337560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34670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8E8F0"/>
                </a:solidFill>
                <a:latin typeface="Calibri"/>
              </a:rPr>
              <a:t>Weighted cosine similarity score (0–100%)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3867912"/>
            <a:ext cx="4160520" cy="51206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47472" y="3867912"/>
            <a:ext cx="45720" cy="5120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" y="3950208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395935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8E8F0"/>
                </a:solidFill>
                <a:latin typeface="Calibri"/>
              </a:rPr>
              <a:t>18-class ML classifier  —  98.7% accuracy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18304" y="804672"/>
            <a:ext cx="4160520" cy="51206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718304" y="804672"/>
            <a:ext cx="45720" cy="5120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886968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38928" y="89611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8E8F0"/>
                </a:solidFill>
                <a:latin typeface="Calibri"/>
              </a:rPr>
              <a:t>Custom training pipeline + live recording mode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18304" y="1417320"/>
            <a:ext cx="4160520" cy="51206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18304" y="1417320"/>
            <a:ext cx="45720" cy="5120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46320" y="149961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38928" y="150876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8E8F0"/>
                </a:solidFill>
                <a:latin typeface="Calibri"/>
              </a:rPr>
              <a:t>Rule-based fallback classifier (13/13 tests pass)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18304" y="2029968"/>
            <a:ext cx="4160520" cy="51206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18304" y="2029968"/>
            <a:ext cx="45720" cy="5120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0" y="2112264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38928" y="212140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8E8F0"/>
                </a:solidFill>
                <a:latin typeface="Calibri"/>
              </a:rPr>
              <a:t>Body stencil overlay — colour-coded, body-aligned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18304" y="2642616"/>
            <a:ext cx="4160520" cy="51206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718304" y="2642616"/>
            <a:ext cx="45720" cy="5120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46320" y="2724912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38928" y="273405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8E8F0"/>
                </a:solidFill>
                <a:latin typeface="Calibri"/>
              </a:rPr>
              <a:t>Natural voice coaching — pose + severity aware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18304" y="3255264"/>
            <a:ext cx="4160520" cy="51206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718304" y="3255264"/>
            <a:ext cx="45720" cy="512064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46320" y="3337560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F00"/>
                </a:solidFill>
                <a:latin typeface="Calibri"/>
              </a:rPr>
              <a:t>~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38928" y="334670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8E8F0"/>
                </a:solidFill>
                <a:latin typeface="Calibri"/>
              </a:rPr>
              <a:t>Voice command recognition (needs pyaudio)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18304" y="3867912"/>
            <a:ext cx="4160520" cy="512064"/>
          </a:xfrm>
          <a:prstGeom prst="rect">
            <a:avLst/>
          </a:prstGeom>
          <a:solidFill>
            <a:srgbClr val="14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718304" y="3867912"/>
            <a:ext cx="45720" cy="512064"/>
          </a:xfrm>
          <a:prstGeom prst="rect">
            <a:avLst/>
          </a:prstGeom>
          <a:solidFill>
            <a:srgbClr val="72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46320" y="3950208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290A8"/>
                </a:solidFill>
                <a:latin typeface="Calibri"/>
              </a:rPr>
              <a:t>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38928" y="395935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290A8"/>
                </a:solidFill>
                <a:latin typeface="Calibri"/>
              </a:rPr>
              <a:t>Kaggle real-data fine-tuning (optional)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517136"/>
            <a:ext cx="9144000" cy="626364"/>
          </a:xfrm>
          <a:prstGeom prst="rect">
            <a:avLst/>
          </a:prstGeom>
          <a:solidFill>
            <a:srgbClr val="06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47472" y="4544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Calibri"/>
              </a:rPr>
              <a:t>10/10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" y="481888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90A8"/>
                </a:solidFill>
                <a:latin typeface="Calibri"/>
              </a:rPr>
              <a:t>Modules built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42032" y="4544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98.7%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42032" y="481888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90A8"/>
                </a:solidFill>
                <a:latin typeface="Calibri"/>
              </a:rPr>
              <a:t>ML accuracy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36592" y="4544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36592" y="481888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90A8"/>
                </a:solidFill>
                <a:latin typeface="Calibri"/>
              </a:rPr>
              <a:t>Pose classes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31151" y="4544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F00"/>
                </a:solidFill>
                <a:latin typeface="Calibri"/>
              </a:rPr>
              <a:t>Live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31151" y="481888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290A8"/>
                </a:solidFill>
                <a:latin typeface="Calibri"/>
              </a:rPr>
              <a:t>Running on Windows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1481</Words>
  <Application>Microsoft Office PowerPoint</Application>
  <PresentationFormat>On-screen Show (16:9)</PresentationFormat>
  <Paragraphs>252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Suman Suprith M</cp:lastModifiedBy>
  <cp:revision>2</cp:revision>
  <dcterms:created xsi:type="dcterms:W3CDTF">2013-01-27T09:14:16Z</dcterms:created>
  <dcterms:modified xsi:type="dcterms:W3CDTF">2026-03-12T04:08:36Z</dcterms:modified>
  <cp:category/>
</cp:coreProperties>
</file>